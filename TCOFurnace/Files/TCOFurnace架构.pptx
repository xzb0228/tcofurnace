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0"/>
        <p:guide pos="38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6400" y="499110"/>
            <a:ext cx="11652250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42565" y="623570"/>
            <a:ext cx="6483985" cy="490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                      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TCOFurnace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主程序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7860" y="1336040"/>
            <a:ext cx="208470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状体机运行主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58135" y="1336040"/>
            <a:ext cx="116014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手动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65270" y="1336040"/>
            <a:ext cx="119062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仿真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19090" y="1337310"/>
            <a:ext cx="1131570" cy="443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板卡</a:t>
            </a:r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656705" y="1337310"/>
            <a:ext cx="141478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翻译等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06400" y="2517775"/>
            <a:ext cx="4469765" cy="1486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10870" y="2693670"/>
            <a:ext cx="4126865" cy="490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en-US" altLang="zh-CN" sz="2400"/>
              <a:t>EquipDriver</a:t>
            </a:r>
            <a:r>
              <a:rPr lang="zh-CN" altLang="en-US" sz="2400"/>
              <a:t>通讯模块</a:t>
            </a:r>
            <a:endParaRPr lang="zh-CN" altLang="en-US" sz="2400"/>
          </a:p>
        </p:txBody>
      </p:sp>
      <p:sp>
        <p:nvSpPr>
          <p:cNvPr id="16" name="文本框 15"/>
          <p:cNvSpPr txBox="1"/>
          <p:nvPr/>
        </p:nvSpPr>
        <p:spPr>
          <a:xfrm>
            <a:off x="1064260" y="3465195"/>
            <a:ext cx="65976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串口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271395" y="3465195"/>
            <a:ext cx="80518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TCP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3634740" y="3465195"/>
            <a:ext cx="74231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UDP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406400" y="4556125"/>
            <a:ext cx="4474845" cy="1486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38810" y="4731385"/>
            <a:ext cx="4126865" cy="490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en-US" altLang="zh-CN" sz="2400"/>
              <a:t>ModBusRTU</a:t>
            </a:r>
            <a:r>
              <a:rPr lang="zh-CN" altLang="en-US" sz="2400"/>
              <a:t>命令模块</a:t>
            </a:r>
            <a:endParaRPr lang="zh-CN" altLang="en-US" sz="2400"/>
          </a:p>
        </p:txBody>
      </p:sp>
      <p:sp>
        <p:nvSpPr>
          <p:cNvPr id="22" name="文本框 21"/>
          <p:cNvSpPr txBox="1"/>
          <p:nvPr/>
        </p:nvSpPr>
        <p:spPr>
          <a:xfrm>
            <a:off x="1118870" y="5502910"/>
            <a:ext cx="109982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普通</a:t>
            </a:r>
            <a:r>
              <a:rPr lang="zh-CN" altLang="en-US"/>
              <a:t>命令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742565" y="5502910"/>
            <a:ext cx="172783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循环执行</a:t>
            </a:r>
            <a:r>
              <a:rPr lang="zh-CN" altLang="en-US"/>
              <a:t>命令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617845" y="2517140"/>
            <a:ext cx="2967990" cy="3521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598920" y="5398135"/>
            <a:ext cx="112395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加密</a:t>
            </a:r>
            <a:r>
              <a:rPr lang="zh-CN" altLang="en-US"/>
              <a:t>解密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545580" y="4060825"/>
            <a:ext cx="112712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日志</a:t>
            </a:r>
            <a:r>
              <a:rPr lang="zh-CN" altLang="en-US"/>
              <a:t>记录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692265" y="4731385"/>
            <a:ext cx="90487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帮助</a:t>
            </a:r>
            <a:r>
              <a:rPr lang="zh-CN" altLang="en-US"/>
              <a:t>类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411970" y="2517775"/>
            <a:ext cx="2646045" cy="3529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743575" y="2749550"/>
            <a:ext cx="2652395" cy="11988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Common</a:t>
            </a:r>
            <a:r>
              <a:rPr lang="zh-CN" altLang="en-US" sz="2400">
                <a:sym typeface="+mn-ea"/>
              </a:rPr>
              <a:t>通用模块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39" name="文本框 38"/>
          <p:cNvSpPr txBox="1"/>
          <p:nvPr/>
        </p:nvSpPr>
        <p:spPr>
          <a:xfrm>
            <a:off x="9637395" y="2906395"/>
            <a:ext cx="2221865" cy="279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Sqlite</a:t>
            </a:r>
            <a:r>
              <a:rPr lang="zh-CN" altLang="en-US">
                <a:sym typeface="+mn-ea"/>
              </a:rPr>
              <a:t>数据库</a:t>
            </a:r>
            <a:r>
              <a:rPr lang="zh-CN" altLang="en-US"/>
              <a:t>与</a:t>
            </a:r>
            <a:r>
              <a:rPr lang="zh-CN" altLang="en-US"/>
              <a:t>升级</a:t>
            </a:r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177530" y="1256030"/>
            <a:ext cx="3833495" cy="5962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82940" y="1336040"/>
            <a:ext cx="111188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权限</a:t>
            </a:r>
            <a:r>
              <a:rPr lang="zh-CN" altLang="en-US"/>
              <a:t>控制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500870" y="1336040"/>
            <a:ext cx="1189355" cy="4438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用户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796270" y="1336040"/>
            <a:ext cx="117856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参数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>
            <a:off x="1862455" y="1766570"/>
            <a:ext cx="149860" cy="75057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 rot="16200000">
            <a:off x="5151755" y="3130550"/>
            <a:ext cx="200025" cy="71691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下箭头 51"/>
          <p:cNvSpPr/>
          <p:nvPr/>
        </p:nvSpPr>
        <p:spPr>
          <a:xfrm>
            <a:off x="7034530" y="1959610"/>
            <a:ext cx="283845" cy="56134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下箭头 54"/>
          <p:cNvSpPr/>
          <p:nvPr/>
        </p:nvSpPr>
        <p:spPr>
          <a:xfrm rot="5400000">
            <a:off x="8921750" y="4085590"/>
            <a:ext cx="153035" cy="808355"/>
          </a:xfrm>
          <a:prstGeom prst="downArrow">
            <a:avLst>
              <a:gd name="adj1" fmla="val 50239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下箭头 55"/>
          <p:cNvSpPr/>
          <p:nvPr/>
        </p:nvSpPr>
        <p:spPr>
          <a:xfrm>
            <a:off x="2582545" y="4013200"/>
            <a:ext cx="160020" cy="53784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下箭头 56"/>
          <p:cNvSpPr/>
          <p:nvPr/>
        </p:nvSpPr>
        <p:spPr>
          <a:xfrm rot="16200000">
            <a:off x="5166360" y="4879975"/>
            <a:ext cx="170180" cy="73342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下箭头 1"/>
          <p:cNvSpPr/>
          <p:nvPr/>
        </p:nvSpPr>
        <p:spPr>
          <a:xfrm>
            <a:off x="3310255" y="1781810"/>
            <a:ext cx="149860" cy="75057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下箭头 2"/>
          <p:cNvSpPr/>
          <p:nvPr/>
        </p:nvSpPr>
        <p:spPr>
          <a:xfrm>
            <a:off x="4492625" y="1781810"/>
            <a:ext cx="149860" cy="75057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10405745" y="1852295"/>
            <a:ext cx="140335" cy="68008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194810" y="3023870"/>
            <a:ext cx="3542665" cy="3627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11420" y="3096260"/>
            <a:ext cx="2035175" cy="6324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</a:t>
            </a:r>
            <a:r>
              <a:rPr lang="zh-CN" altLang="en-US"/>
              <a:t>温度控制</a:t>
            </a:r>
            <a:r>
              <a:rPr lang="zh-CN" altLang="en-US"/>
              <a:t>算法</a:t>
            </a:r>
            <a:endParaRPr lang="zh-CN" altLang="en-US"/>
          </a:p>
          <a:p>
            <a:r>
              <a:rPr lang="en-US" altLang="zh-CN" sz="1200"/>
              <a:t>   TemperatureControlle</a:t>
            </a:r>
            <a:r>
              <a:rPr lang="en-US" altLang="zh-CN" sz="1200"/>
              <a:t>r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>
            <a:off x="4354195" y="3825240"/>
            <a:ext cx="322643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SetPara(targetTemp, minPower, maxPower)</a:t>
            </a:r>
            <a:endParaRPr lang="en-US" altLang="zh-CN" sz="1000"/>
          </a:p>
          <a:p>
            <a:r>
              <a:rPr lang="zh-CN" altLang="en-US" sz="1000"/>
              <a:t>设置目标温度</a:t>
            </a:r>
            <a:r>
              <a:rPr lang="en-US" altLang="zh-CN" sz="1000"/>
              <a:t>,</a:t>
            </a:r>
            <a:r>
              <a:rPr lang="zh-CN" altLang="en-US" sz="1000"/>
              <a:t>最大功率</a:t>
            </a:r>
            <a:r>
              <a:rPr lang="en-US" altLang="zh-CN" sz="1000"/>
              <a:t>,</a:t>
            </a:r>
            <a:r>
              <a:rPr lang="zh-CN" altLang="en-US" sz="1000"/>
              <a:t>最小</a:t>
            </a:r>
            <a:r>
              <a:rPr lang="zh-CN" altLang="en-US" sz="1000"/>
              <a:t>功率</a:t>
            </a:r>
            <a:endParaRPr lang="zh-CN" altLang="en-US" sz="1000"/>
          </a:p>
        </p:txBody>
      </p:sp>
      <p:sp>
        <p:nvSpPr>
          <p:cNvPr id="15" name="矩形 14"/>
          <p:cNvSpPr/>
          <p:nvPr/>
        </p:nvSpPr>
        <p:spPr>
          <a:xfrm>
            <a:off x="9326245" y="3604895"/>
            <a:ext cx="2491105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624060" y="3728720"/>
            <a:ext cx="1836420" cy="5829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模拟量控制</a:t>
            </a:r>
            <a:r>
              <a:rPr lang="zh-CN" altLang="en-US"/>
              <a:t>模块</a:t>
            </a:r>
            <a:endParaRPr lang="zh-CN" altLang="en-US"/>
          </a:p>
          <a:p>
            <a:r>
              <a:rPr lang="en-US" altLang="zh-CN" sz="1200">
                <a:sym typeface="+mn-ea"/>
              </a:rPr>
              <a:t>      JY-AMDAIAO </a:t>
            </a:r>
            <a:endParaRPr lang="en-US" altLang="zh-CN" sz="1200"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91525" y="521335"/>
            <a:ext cx="3472815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138285" y="645795"/>
            <a:ext cx="2121535" cy="622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调压</a:t>
            </a:r>
            <a:r>
              <a:rPr lang="zh-CN" altLang="en-US"/>
              <a:t>模块</a:t>
            </a:r>
            <a:endParaRPr lang="zh-CN" altLang="en-US"/>
          </a:p>
          <a:p>
            <a:r>
              <a:rPr lang="en-US" altLang="zh-CN">
                <a:sym typeface="+mn-ea"/>
              </a:rPr>
              <a:t>       </a:t>
            </a:r>
            <a:r>
              <a:rPr lang="en-US" altLang="zh-CN" sz="1200">
                <a:sym typeface="+mn-ea"/>
              </a:rPr>
              <a:t>     LSCR-1-25A</a:t>
            </a:r>
            <a:endParaRPr lang="zh-CN" altLang="en-US" sz="1200"/>
          </a:p>
        </p:txBody>
      </p:sp>
      <p:sp>
        <p:nvSpPr>
          <p:cNvPr id="22" name="矩形 21"/>
          <p:cNvSpPr/>
          <p:nvPr/>
        </p:nvSpPr>
        <p:spPr>
          <a:xfrm>
            <a:off x="214630" y="521335"/>
            <a:ext cx="3416300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4240" y="645160"/>
            <a:ext cx="2121535" cy="6229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zh-CN" altLang="en-US"/>
              <a:t>反应炉加热丝加热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41655" y="3604260"/>
            <a:ext cx="2248535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83590" y="3728720"/>
            <a:ext cx="1711960" cy="612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</a:t>
            </a:r>
            <a:r>
              <a:rPr lang="zh-CN" altLang="en-US"/>
              <a:t>温</a:t>
            </a:r>
            <a:r>
              <a:rPr lang="zh-CN" altLang="en-US"/>
              <a:t>控器</a:t>
            </a:r>
            <a:endParaRPr lang="zh-CN" altLang="en-US"/>
          </a:p>
          <a:p>
            <a:r>
              <a:rPr lang="en-US" altLang="zh-CN"/>
              <a:t>     </a:t>
            </a:r>
            <a:r>
              <a:rPr lang="en-US" altLang="zh-CN" sz="1200"/>
              <a:t>GTAX-S48-T</a:t>
            </a:r>
            <a:endParaRPr lang="en-US" altLang="zh-CN" sz="1200"/>
          </a:p>
        </p:txBody>
      </p:sp>
      <p:sp>
        <p:nvSpPr>
          <p:cNvPr id="28" name="文本框 27"/>
          <p:cNvSpPr txBox="1"/>
          <p:nvPr/>
        </p:nvSpPr>
        <p:spPr>
          <a:xfrm>
            <a:off x="4354195" y="6021705"/>
            <a:ext cx="322643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SendPower(</a:t>
            </a:r>
            <a:r>
              <a:rPr lang="en-US" altLang="zh-CN" sz="1000"/>
              <a:t>int power)</a:t>
            </a:r>
            <a:endParaRPr lang="en-US" altLang="zh-CN" sz="1000"/>
          </a:p>
          <a:p>
            <a:r>
              <a:rPr lang="zh-CN" altLang="en-US" sz="1000"/>
              <a:t>给控制板卡发送具体</a:t>
            </a:r>
            <a:r>
              <a:rPr lang="zh-CN" altLang="en-US" sz="1000"/>
              <a:t>功率</a:t>
            </a:r>
            <a:endParaRPr lang="zh-CN" altLang="en-US" sz="1000"/>
          </a:p>
        </p:txBody>
      </p:sp>
      <p:sp>
        <p:nvSpPr>
          <p:cNvPr id="29" name="文本框 28"/>
          <p:cNvSpPr txBox="1"/>
          <p:nvPr/>
        </p:nvSpPr>
        <p:spPr>
          <a:xfrm>
            <a:off x="4354195" y="4836795"/>
            <a:ext cx="322643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CheckModeSwitch(</a:t>
            </a:r>
            <a:r>
              <a:rPr lang="en-US" altLang="zh-CN" sz="1000"/>
              <a:t>)</a:t>
            </a:r>
            <a:endParaRPr lang="en-US" altLang="zh-CN" sz="1000"/>
          </a:p>
          <a:p>
            <a:r>
              <a:rPr lang="zh-CN" altLang="en-US" sz="1000"/>
              <a:t>切换加热模式</a:t>
            </a:r>
            <a:r>
              <a:rPr lang="en-US" altLang="zh-CN" sz="1000"/>
              <a:t> </a:t>
            </a:r>
            <a:r>
              <a:rPr lang="zh-CN" altLang="en-US" sz="1000"/>
              <a:t>加热模式</a:t>
            </a:r>
            <a:r>
              <a:rPr lang="zh-CN" altLang="en-US" sz="1000"/>
              <a:t>与恒温</a:t>
            </a:r>
            <a:r>
              <a:rPr lang="zh-CN" altLang="en-US" sz="1000"/>
              <a:t>模式</a:t>
            </a:r>
            <a:endParaRPr lang="zh-CN" altLang="en-US" sz="1000"/>
          </a:p>
        </p:txBody>
      </p:sp>
      <p:sp>
        <p:nvSpPr>
          <p:cNvPr id="30" name="文本框 29"/>
          <p:cNvSpPr txBox="1"/>
          <p:nvPr/>
        </p:nvSpPr>
        <p:spPr>
          <a:xfrm>
            <a:off x="4354195" y="5332730"/>
            <a:ext cx="3226435" cy="558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CalculatePower(</a:t>
            </a:r>
            <a:r>
              <a:rPr lang="en-US" altLang="zh-CN" sz="1000"/>
              <a:t>)</a:t>
            </a:r>
            <a:endParaRPr lang="en-US" altLang="zh-CN" sz="1000"/>
          </a:p>
          <a:p>
            <a:r>
              <a:rPr lang="en-US" altLang="zh-CN" sz="1000"/>
              <a:t>PID</a:t>
            </a:r>
            <a:r>
              <a:rPr lang="zh-CN" altLang="en-US" sz="1000"/>
              <a:t>算法根据目标温度与当前温度计算输出功率温度越高功率</a:t>
            </a:r>
            <a:r>
              <a:rPr lang="zh-CN" altLang="en-US" sz="1000"/>
              <a:t>越小</a:t>
            </a:r>
            <a:endParaRPr lang="zh-CN" altLang="en-US" sz="1000"/>
          </a:p>
        </p:txBody>
      </p:sp>
      <p:sp>
        <p:nvSpPr>
          <p:cNvPr id="31" name="文本框 30"/>
          <p:cNvSpPr txBox="1"/>
          <p:nvPr/>
        </p:nvSpPr>
        <p:spPr>
          <a:xfrm>
            <a:off x="4354195" y="4340860"/>
            <a:ext cx="322643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reciveModbusRegThread(</a:t>
            </a:r>
            <a:r>
              <a:rPr lang="en-US" altLang="zh-CN" sz="1000"/>
              <a:t>int power)</a:t>
            </a:r>
            <a:endParaRPr lang="en-US" altLang="zh-CN" sz="1000"/>
          </a:p>
          <a:p>
            <a:r>
              <a:rPr lang="zh-CN" altLang="en-US" sz="1000"/>
              <a:t>温度回采。通知温控模块当前</a:t>
            </a:r>
            <a:r>
              <a:rPr lang="zh-CN" altLang="en-US" sz="1000"/>
              <a:t>温度</a:t>
            </a:r>
            <a:endParaRPr lang="zh-CN" altLang="en-US" sz="1000"/>
          </a:p>
        </p:txBody>
      </p:sp>
      <p:sp>
        <p:nvSpPr>
          <p:cNvPr id="32" name="文本框 31"/>
          <p:cNvSpPr txBox="1"/>
          <p:nvPr/>
        </p:nvSpPr>
        <p:spPr>
          <a:xfrm>
            <a:off x="9372600" y="4441190"/>
            <a:ext cx="2296795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000"/>
              <a:t>入参输出模拟量电流</a:t>
            </a:r>
            <a:r>
              <a:rPr lang="en-US" altLang="zh-CN" sz="1000"/>
              <a:t> 4mA-20mA</a:t>
            </a:r>
            <a:endParaRPr lang="en-US" altLang="zh-CN" sz="1000"/>
          </a:p>
        </p:txBody>
      </p:sp>
      <p:sp>
        <p:nvSpPr>
          <p:cNvPr id="33" name="文本框 32"/>
          <p:cNvSpPr txBox="1"/>
          <p:nvPr/>
        </p:nvSpPr>
        <p:spPr>
          <a:xfrm>
            <a:off x="9081135" y="1510665"/>
            <a:ext cx="2296795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4-20mA   </a:t>
            </a:r>
            <a:r>
              <a:rPr lang="zh-CN" altLang="en-US" sz="1000"/>
              <a:t>对应</a:t>
            </a:r>
            <a:r>
              <a:rPr lang="en-US" altLang="zh-CN" sz="1000"/>
              <a:t> 0-220V  </a:t>
            </a:r>
            <a:r>
              <a:rPr lang="zh-CN" altLang="en-US" sz="1000"/>
              <a:t>线性对应关系</a:t>
            </a:r>
            <a:endParaRPr lang="zh-CN" altLang="en-US" sz="1000"/>
          </a:p>
        </p:txBody>
      </p:sp>
      <p:sp>
        <p:nvSpPr>
          <p:cNvPr id="34" name="文本框 33"/>
          <p:cNvSpPr txBox="1"/>
          <p:nvPr/>
        </p:nvSpPr>
        <p:spPr>
          <a:xfrm>
            <a:off x="650240" y="4544695"/>
            <a:ext cx="1994535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         </a:t>
            </a:r>
            <a:r>
              <a:rPr lang="zh-CN" altLang="en-US" sz="1000"/>
              <a:t>采集反应炉中的</a:t>
            </a:r>
            <a:r>
              <a:rPr lang="zh-CN" altLang="en-US" sz="1000"/>
              <a:t>温度</a:t>
            </a:r>
            <a:endParaRPr lang="zh-CN" altLang="en-US" sz="1000"/>
          </a:p>
        </p:txBody>
      </p:sp>
      <p:sp>
        <p:nvSpPr>
          <p:cNvPr id="35" name="文本框 34"/>
          <p:cNvSpPr txBox="1"/>
          <p:nvPr/>
        </p:nvSpPr>
        <p:spPr>
          <a:xfrm>
            <a:off x="440690" y="1510665"/>
            <a:ext cx="3120390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000"/>
              <a:t>两个反应管</a:t>
            </a:r>
            <a:r>
              <a:rPr lang="en-US" altLang="zh-CN" sz="1000"/>
              <a:t>,</a:t>
            </a:r>
            <a:r>
              <a:rPr lang="zh-CN" altLang="en-US" sz="1000"/>
              <a:t>每个管子有氧化</a:t>
            </a:r>
            <a:r>
              <a:rPr lang="zh-CN" altLang="en-US" sz="1000"/>
              <a:t>区加热，与催化区</a:t>
            </a:r>
            <a:r>
              <a:rPr lang="zh-CN" altLang="en-US" sz="1000"/>
              <a:t>加热</a:t>
            </a:r>
            <a:endParaRPr lang="zh-CN" altLang="en-US" sz="1000"/>
          </a:p>
        </p:txBody>
      </p:sp>
      <p:sp>
        <p:nvSpPr>
          <p:cNvPr id="36" name="左箭头 35"/>
          <p:cNvSpPr/>
          <p:nvPr/>
        </p:nvSpPr>
        <p:spPr>
          <a:xfrm>
            <a:off x="3638550" y="1223645"/>
            <a:ext cx="4730115" cy="762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781550" y="948055"/>
            <a:ext cx="1740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控件加热丝的加热</a:t>
            </a:r>
            <a:endParaRPr lang="zh-CN" altLang="en-US" sz="1200"/>
          </a:p>
        </p:txBody>
      </p:sp>
      <p:sp>
        <p:nvSpPr>
          <p:cNvPr id="38" name="上箭头 37"/>
          <p:cNvSpPr/>
          <p:nvPr/>
        </p:nvSpPr>
        <p:spPr>
          <a:xfrm>
            <a:off x="1628775" y="2014220"/>
            <a:ext cx="95250" cy="159067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724025" y="2121535"/>
            <a:ext cx="367030" cy="13493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200"/>
              <a:t>采集反应区的温度</a:t>
            </a:r>
            <a:endParaRPr lang="zh-CN" altLang="en-US" sz="1200"/>
          </a:p>
        </p:txBody>
      </p:sp>
      <p:sp>
        <p:nvSpPr>
          <p:cNvPr id="41" name="左箭头 40"/>
          <p:cNvSpPr/>
          <p:nvPr/>
        </p:nvSpPr>
        <p:spPr>
          <a:xfrm>
            <a:off x="2814320" y="4404995"/>
            <a:ext cx="1333500" cy="12382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94000" y="4006215"/>
            <a:ext cx="1396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ModBus</a:t>
            </a:r>
            <a:r>
              <a:rPr lang="zh-CN" altLang="en-US" sz="1000"/>
              <a:t>命令</a:t>
            </a:r>
            <a:r>
              <a:rPr lang="en-US" altLang="zh-CN" sz="1000"/>
              <a:t>10</a:t>
            </a:r>
            <a:r>
              <a:rPr lang="zh-CN" altLang="en-US" sz="1000"/>
              <a:t>秒</a:t>
            </a:r>
            <a:endParaRPr lang="zh-CN" altLang="en-US" sz="1000"/>
          </a:p>
          <a:p>
            <a:r>
              <a:rPr lang="zh-CN" altLang="en-US" sz="1000"/>
              <a:t>读取一次温度值</a:t>
            </a:r>
            <a:endParaRPr lang="zh-CN" altLang="en-US" sz="1000"/>
          </a:p>
        </p:txBody>
      </p:sp>
      <p:sp>
        <p:nvSpPr>
          <p:cNvPr id="43" name="右箭头 42"/>
          <p:cNvSpPr/>
          <p:nvPr/>
        </p:nvSpPr>
        <p:spPr>
          <a:xfrm>
            <a:off x="7734300" y="4319270"/>
            <a:ext cx="1581150" cy="857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694295" y="3920490"/>
            <a:ext cx="1711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将计算的电压转为</a:t>
            </a:r>
            <a:r>
              <a:rPr lang="en-US" altLang="zh-CN" sz="1000"/>
              <a:t> 4-20mA</a:t>
            </a:r>
            <a:r>
              <a:rPr lang="zh-CN" altLang="en-US" sz="1000"/>
              <a:t>电流通过</a:t>
            </a:r>
            <a:r>
              <a:rPr lang="en-US" altLang="zh-CN" sz="1000"/>
              <a:t>ModBus</a:t>
            </a:r>
            <a:r>
              <a:rPr lang="zh-CN" altLang="en-US" sz="1000"/>
              <a:t>命令下发</a:t>
            </a:r>
            <a:endParaRPr lang="zh-CN" altLang="en-US" sz="1000"/>
          </a:p>
        </p:txBody>
      </p:sp>
      <p:sp>
        <p:nvSpPr>
          <p:cNvPr id="46" name="上箭头 45"/>
          <p:cNvSpPr/>
          <p:nvPr/>
        </p:nvSpPr>
        <p:spPr>
          <a:xfrm>
            <a:off x="10386695" y="1985645"/>
            <a:ext cx="75565" cy="160972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4649470" y="2695575"/>
            <a:ext cx="3420110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947285" y="2819400"/>
            <a:ext cx="2804795" cy="5829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</a:t>
            </a:r>
            <a:r>
              <a:rPr lang="zh-CN" altLang="en-US"/>
              <a:t>模拟量控制</a:t>
            </a:r>
            <a:r>
              <a:rPr lang="zh-CN" altLang="en-US"/>
              <a:t>模块</a:t>
            </a:r>
            <a:endParaRPr lang="zh-CN" altLang="en-US"/>
          </a:p>
          <a:p>
            <a:r>
              <a:rPr lang="en-US" altLang="zh-CN" sz="1200">
                <a:sym typeface="+mn-ea"/>
              </a:rPr>
              <a:t>                JY-AMDAIAO </a:t>
            </a:r>
            <a:endParaRPr lang="en-US" altLang="zh-CN" sz="1200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947920" y="3531870"/>
            <a:ext cx="2804160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000"/>
              <a:t>入参输出模拟量电流</a:t>
            </a:r>
            <a:r>
              <a:rPr lang="en-US" altLang="zh-CN" sz="1000"/>
              <a:t> 4mA-20mA,</a:t>
            </a:r>
            <a:r>
              <a:rPr lang="zh-CN" altLang="en-US" sz="1000"/>
              <a:t>同时控制</a:t>
            </a:r>
            <a:r>
              <a:rPr lang="zh-CN" altLang="en-US" sz="1000"/>
              <a:t>气流</a:t>
            </a:r>
            <a:endParaRPr lang="zh-CN" altLang="en-US" sz="1000"/>
          </a:p>
        </p:txBody>
      </p:sp>
      <p:sp>
        <p:nvSpPr>
          <p:cNvPr id="4" name="矩形 3"/>
          <p:cNvSpPr/>
          <p:nvPr/>
        </p:nvSpPr>
        <p:spPr>
          <a:xfrm>
            <a:off x="8927465" y="2695575"/>
            <a:ext cx="2595245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23375" y="2819400"/>
            <a:ext cx="1981835" cy="5829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</a:t>
            </a:r>
            <a:r>
              <a:rPr lang="zh-CN" altLang="en-US"/>
              <a:t>流量计</a:t>
            </a:r>
            <a:endParaRPr lang="zh-CN" altLang="en-US"/>
          </a:p>
          <a:p>
            <a:r>
              <a:rPr lang="en-US" altLang="zh-CN" sz="1200">
                <a:sym typeface="+mn-ea"/>
              </a:rPr>
              <a:t>                </a:t>
            </a:r>
            <a:r>
              <a:rPr lang="en-US" altLang="zh-CN" sz="1200">
                <a:sym typeface="+mn-ea"/>
              </a:rPr>
              <a:t>AS200</a:t>
            </a:r>
            <a:endParaRPr lang="en-US" altLang="zh-CN" sz="12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23375" y="3531870"/>
            <a:ext cx="1981835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 </a:t>
            </a:r>
            <a:r>
              <a:rPr lang="zh-CN" altLang="en-US" sz="1000"/>
              <a:t>输出模拟量电流</a:t>
            </a:r>
            <a:r>
              <a:rPr lang="en-US" altLang="zh-CN" sz="1000"/>
              <a:t> 4mA-20mA</a:t>
            </a:r>
            <a:endParaRPr lang="en-US" altLang="zh-CN" sz="1000"/>
          </a:p>
        </p:txBody>
      </p:sp>
      <p:sp>
        <p:nvSpPr>
          <p:cNvPr id="7" name="矩形 6"/>
          <p:cNvSpPr/>
          <p:nvPr/>
        </p:nvSpPr>
        <p:spPr>
          <a:xfrm>
            <a:off x="900430" y="2695575"/>
            <a:ext cx="2595245" cy="146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96340" y="2819400"/>
            <a:ext cx="1981835" cy="5829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上位机</a:t>
            </a:r>
            <a:endParaRPr lang="zh-CN" altLang="en-US"/>
          </a:p>
          <a:p>
            <a:r>
              <a:rPr lang="en-US" altLang="zh-CN" sz="1200">
                <a:sym typeface="+mn-ea"/>
              </a:rPr>
              <a:t>        </a:t>
            </a:r>
            <a:endParaRPr lang="en-US" altLang="zh-CN" sz="12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4730" y="3531870"/>
            <a:ext cx="2383155" cy="29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1000"/>
              <a:t>发送</a:t>
            </a:r>
            <a:r>
              <a:rPr lang="en-US" altLang="zh-CN" sz="1000"/>
              <a:t>ModBus</a:t>
            </a:r>
            <a:r>
              <a:rPr lang="zh-CN" altLang="en-US" sz="1000"/>
              <a:t>命令给控制模块设置</a:t>
            </a:r>
            <a:r>
              <a:rPr lang="zh-CN" altLang="en-US" sz="1000"/>
              <a:t>电流</a:t>
            </a:r>
            <a:endParaRPr lang="zh-CN" altLang="en-US" sz="1000"/>
          </a:p>
        </p:txBody>
      </p:sp>
      <p:sp>
        <p:nvSpPr>
          <p:cNvPr id="10" name="右箭头 9"/>
          <p:cNvSpPr/>
          <p:nvPr/>
        </p:nvSpPr>
        <p:spPr>
          <a:xfrm>
            <a:off x="3497580" y="3375660"/>
            <a:ext cx="1140460" cy="1435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8079105" y="3739515"/>
            <a:ext cx="84201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8069580" y="3088005"/>
            <a:ext cx="853440" cy="7556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53460" y="3068955"/>
            <a:ext cx="10185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ModBus</a:t>
            </a:r>
            <a:r>
              <a:rPr lang="zh-CN" altLang="en-US" sz="1000"/>
              <a:t>命令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8147050" y="2695575"/>
            <a:ext cx="7118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回传模</a:t>
            </a:r>
            <a:endParaRPr lang="zh-CN" altLang="en-US" sz="1000"/>
          </a:p>
          <a:p>
            <a:r>
              <a:rPr lang="zh-CN" altLang="en-US" sz="1000"/>
              <a:t>拟</a:t>
            </a:r>
            <a:r>
              <a:rPr lang="zh-CN" altLang="en-US" sz="1000"/>
              <a:t>电流</a:t>
            </a:r>
            <a:endParaRPr lang="zh-CN" altLang="en-US" sz="1000"/>
          </a:p>
        </p:txBody>
      </p:sp>
      <p:sp>
        <p:nvSpPr>
          <p:cNvPr id="24" name="文本框 23"/>
          <p:cNvSpPr txBox="1"/>
          <p:nvPr/>
        </p:nvSpPr>
        <p:spPr>
          <a:xfrm>
            <a:off x="8199755" y="3823970"/>
            <a:ext cx="597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输出模</a:t>
            </a:r>
            <a:endParaRPr lang="zh-CN" altLang="en-US" sz="1000"/>
          </a:p>
          <a:p>
            <a:r>
              <a:rPr lang="zh-CN" altLang="en-US" sz="1000"/>
              <a:t>拟</a:t>
            </a:r>
            <a:r>
              <a:rPr lang="zh-CN" altLang="en-US" sz="1000"/>
              <a:t>电流</a:t>
            </a:r>
            <a:endParaRPr lang="zh-CN" altLang="en-US" sz="1000"/>
          </a:p>
        </p:txBody>
      </p:sp>
      <p:sp>
        <p:nvSpPr>
          <p:cNvPr id="25" name="文本框 24"/>
          <p:cNvSpPr txBox="1"/>
          <p:nvPr/>
        </p:nvSpPr>
        <p:spPr>
          <a:xfrm>
            <a:off x="3028315" y="816610"/>
            <a:ext cx="6296660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                        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气流控制模块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CN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3028315" y="237490"/>
            <a:ext cx="6296660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                   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通讯模块图解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CN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7360" y="5506720"/>
            <a:ext cx="4344670" cy="955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                    IEquipDriver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通讯基类接口定义方法</a:t>
            </a:r>
            <a:r>
              <a:rPr lang="en-US" altLang="zh-CN"/>
              <a:t>Init</a:t>
            </a:r>
            <a:r>
              <a:rPr lang="zh-CN" altLang="en-US"/>
              <a:t>，</a:t>
            </a:r>
            <a:r>
              <a:rPr lang="en-US" altLang="zh-CN"/>
              <a:t>Close</a:t>
            </a:r>
            <a:r>
              <a:rPr lang="zh-CN" altLang="en-US"/>
              <a:t>，</a:t>
            </a:r>
            <a:r>
              <a:rPr lang="en-US" altLang="zh-CN"/>
              <a:t>IsOnline</a:t>
            </a:r>
            <a:r>
              <a:rPr lang="zh-CN" altLang="en-US"/>
              <a:t>，</a:t>
            </a:r>
            <a:r>
              <a:rPr lang="en-US" altLang="zh-CN"/>
              <a:t>SendString</a:t>
            </a:r>
            <a:r>
              <a:rPr lang="zh-CN" altLang="en-US"/>
              <a:t>，</a:t>
            </a:r>
            <a:r>
              <a:rPr lang="en-US" altLang="zh-CN"/>
              <a:t>SendByte</a:t>
            </a:r>
            <a:endParaRPr lang="en-US" altLang="zh-CN"/>
          </a:p>
          <a:p>
            <a:r>
              <a:rPr lang="en-US" altLang="zh-CN" sz="1200">
                <a:sym typeface="+mn-ea"/>
              </a:rPr>
              <a:t>                </a:t>
            </a:r>
            <a:endParaRPr lang="en-US" altLang="zh-CN" sz="1200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5765" y="3540760"/>
            <a:ext cx="4469765" cy="136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10235" y="3641090"/>
            <a:ext cx="4202430" cy="490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/>
              <a:t>EquipDriver</a:t>
            </a:r>
            <a:r>
              <a:rPr lang="zh-CN" altLang="en-US" sz="2000"/>
              <a:t>通讯模块负责命令发送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068705" y="4278630"/>
            <a:ext cx="65976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zh-CN" altLang="en-US"/>
              <a:t>串口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275840" y="4278630"/>
            <a:ext cx="805180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TCP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3639185" y="4278630"/>
            <a:ext cx="742315" cy="444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UDP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753225" y="3540760"/>
            <a:ext cx="4469765" cy="136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57695" y="3641090"/>
            <a:ext cx="4202430" cy="1176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/>
              <a:t>EquipInfo </a:t>
            </a:r>
            <a:r>
              <a:rPr lang="zh-CN" altLang="en-US" sz="1600"/>
              <a:t>有</a:t>
            </a:r>
            <a:r>
              <a:rPr lang="en-US" altLang="zh-CN" sz="1600"/>
              <a:t>mainQueue</a:t>
            </a:r>
            <a:r>
              <a:rPr lang="zh-CN" altLang="en-US" sz="1600"/>
              <a:t>主命令队列</a:t>
            </a:r>
            <a:endParaRPr lang="zh-CN" altLang="en-US" sz="1600"/>
          </a:p>
          <a:p>
            <a:r>
              <a:rPr lang="en-US" altLang="zh-CN" sz="1600"/>
              <a:t>secondaryQueue</a:t>
            </a:r>
            <a:r>
              <a:rPr lang="zh-CN" altLang="en-US" sz="1600"/>
              <a:t> 次命令队列</a:t>
            </a:r>
            <a:r>
              <a:rPr lang="en-US" altLang="zh-CN" sz="1600"/>
              <a:t>,</a:t>
            </a:r>
            <a:r>
              <a:rPr lang="zh-CN" altLang="en-US" sz="1600"/>
              <a:t>负责命令缓存</a:t>
            </a:r>
            <a:r>
              <a:rPr lang="en-US" altLang="zh-CN" sz="1600"/>
              <a:t>,</a:t>
            </a:r>
            <a:r>
              <a:rPr lang="zh-CN" altLang="en-US" sz="1600"/>
              <a:t>循环命令的入队列，以及命令发送间隔等</a:t>
            </a:r>
            <a:r>
              <a:rPr lang="en-US" altLang="zh-CN" sz="2000"/>
              <a:t> </a:t>
            </a:r>
            <a:endParaRPr lang="en-US" altLang="zh-CN" sz="2000"/>
          </a:p>
        </p:txBody>
      </p:sp>
      <p:sp>
        <p:nvSpPr>
          <p:cNvPr id="11" name="矩形 10"/>
          <p:cNvSpPr/>
          <p:nvPr/>
        </p:nvSpPr>
        <p:spPr>
          <a:xfrm>
            <a:off x="1856740" y="2395220"/>
            <a:ext cx="8101965" cy="619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994535" y="2501265"/>
            <a:ext cx="7825740" cy="4368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/>
              <a:t>Equipment</a:t>
            </a:r>
            <a:r>
              <a:rPr lang="en-US" altLang="zh-CN"/>
              <a:t> </a:t>
            </a:r>
            <a:r>
              <a:rPr lang="zh-CN" altLang="en-US"/>
              <a:t>代码一个完整的串口，持有一个命令发送器与待发送命令队列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883660" y="816610"/>
            <a:ext cx="4047490" cy="105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109720" y="930910"/>
            <a:ext cx="3538855" cy="838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zh-CN"/>
              <a:t>EquipmentManager </a:t>
            </a:r>
            <a:r>
              <a:rPr lang="zh-CN" altLang="en-US"/>
              <a:t>管理整</a:t>
            </a:r>
            <a:endParaRPr lang="zh-CN" altLang="en-US"/>
          </a:p>
          <a:p>
            <a:r>
              <a:rPr lang="zh-CN" altLang="en-US"/>
              <a:t>个上位机设备所有发送</a:t>
            </a:r>
            <a:r>
              <a:rPr lang="zh-CN" altLang="en-US"/>
              <a:t>串口</a:t>
            </a:r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2357120" y="4899660"/>
            <a:ext cx="182245" cy="5746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3152775" y="3011170"/>
            <a:ext cx="162560" cy="5175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916545" y="3030220"/>
            <a:ext cx="133985" cy="4794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5759450" y="1880235"/>
            <a:ext cx="144145" cy="4984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WPS 演示</Application>
  <PresentationFormat>宽屏</PresentationFormat>
  <Paragraphs>139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xzb</cp:lastModifiedBy>
  <cp:revision>167</cp:revision>
  <dcterms:created xsi:type="dcterms:W3CDTF">2019-06-19T02:08:00Z</dcterms:created>
  <dcterms:modified xsi:type="dcterms:W3CDTF">2025-10-17T11:24:03Z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760043E05F354565BF2D31EE387B259E_11</vt:lpwstr>
  </property>
</Properties>
</file>